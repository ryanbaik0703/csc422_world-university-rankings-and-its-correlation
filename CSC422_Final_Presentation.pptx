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Slab"/>
      <p:regular r:id="rId12"/>
      <p:bold r:id="rId13"/>
    </p:embeddedFon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bold.fntdata"/><Relationship Id="rId12" Type="http://schemas.openxmlformats.org/officeDocument/2006/relationships/font" Target="fonts/RobotoSlab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3bef69ae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3bef69ae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3bef69aed_0_1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3bef69aed_0_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3bef69aed_0_1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3bef69aed_0_1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3bef69aed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3bef69aed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3bef69aed_0_1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3bef69aed_0_1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World University Rankings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460938" y="3826838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Griffin Clements and Ryan Baik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Reasoning and Presentation Plan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900"/>
              <a:buChar char="●"/>
            </a:pPr>
            <a:r>
              <a:rPr lang="en" sz="1900">
                <a:solidFill>
                  <a:srgbClr val="B6D7A8"/>
                </a:solidFill>
              </a:rPr>
              <a:t>Our goal for this project was to show universities which factors correlate the most to overall ranking</a:t>
            </a:r>
            <a:endParaRPr sz="1900">
              <a:solidFill>
                <a:srgbClr val="B6D7A8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Our original plan was to combine three datasets into one by averaging them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900"/>
              <a:buChar char="●"/>
            </a:pPr>
            <a:r>
              <a:rPr lang="en" sz="1900">
                <a:solidFill>
                  <a:srgbClr val="B6D7A8"/>
                </a:solidFill>
              </a:rPr>
              <a:t>We ultimately decided this was not an effective way to visualize the data as the three datasets use very different metrics for ranking and could not be averaged effectively</a:t>
            </a:r>
            <a:endParaRPr sz="1900">
              <a:solidFill>
                <a:srgbClr val="B6D7A8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So f</a:t>
            </a:r>
            <a:r>
              <a:rPr lang="en" sz="1900"/>
              <a:t>or each dataset, we will discuss which factors correlate the most to a university’s overall ranking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33555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00"/>
              <a:t>Times Higher Education World University Ranking</a:t>
            </a:r>
            <a:endParaRPr sz="2600"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346113"/>
            <a:ext cx="3052200" cy="33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/>
              <a:t>Scoring System </a:t>
            </a:r>
            <a:endParaRPr b="1" sz="1050"/>
          </a:p>
          <a:p>
            <a:pPr indent="-295275" lvl="0" marL="457200" rtl="0" algn="l">
              <a:spcBef>
                <a:spcPts val="1200"/>
              </a:spcBef>
              <a:spcAft>
                <a:spcPts val="0"/>
              </a:spcAft>
              <a:buClr>
                <a:srgbClr val="B6D7A8"/>
              </a:buClr>
              <a:buSzPts val="1050"/>
              <a:buChar char="-"/>
            </a:pPr>
            <a:r>
              <a:rPr lang="en" sz="1050">
                <a:solidFill>
                  <a:srgbClr val="B6D7A8"/>
                </a:solidFill>
              </a:rPr>
              <a:t>Teaching: Quality of teaching environment</a:t>
            </a:r>
            <a:endParaRPr sz="1050">
              <a:solidFill>
                <a:srgbClr val="B6D7A8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050"/>
              <a:buChar char="-"/>
            </a:pPr>
            <a:r>
              <a:rPr lang="en" sz="1050">
                <a:solidFill>
                  <a:srgbClr val="B6D7A8"/>
                </a:solidFill>
              </a:rPr>
              <a:t>Research: Productivity &amp; reputation</a:t>
            </a:r>
            <a:endParaRPr sz="1050">
              <a:solidFill>
                <a:srgbClr val="B6D7A8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050"/>
              <a:buChar char="-"/>
            </a:pPr>
            <a:r>
              <a:rPr lang="en" sz="1050">
                <a:solidFill>
                  <a:srgbClr val="B6D7A8"/>
                </a:solidFill>
              </a:rPr>
              <a:t>Citation: Research impact</a:t>
            </a:r>
            <a:endParaRPr sz="1050">
              <a:solidFill>
                <a:srgbClr val="B6D7A8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050"/>
              <a:buChar char="-"/>
            </a:pPr>
            <a:r>
              <a:rPr lang="en" sz="1050">
                <a:solidFill>
                  <a:srgbClr val="B6D7A8"/>
                </a:solidFill>
              </a:rPr>
              <a:t>Income: Industry collaboration strength</a:t>
            </a:r>
            <a:endParaRPr sz="1050">
              <a:solidFill>
                <a:srgbClr val="B6D7A8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050"/>
              <a:buChar char="-"/>
            </a:pPr>
            <a:r>
              <a:rPr lang="en" sz="1050">
                <a:solidFill>
                  <a:srgbClr val="B6D7A8"/>
                </a:solidFill>
              </a:rPr>
              <a:t>International Outlook: Global engagement</a:t>
            </a:r>
            <a:endParaRPr sz="1050">
              <a:solidFill>
                <a:srgbClr val="B6D7A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50"/>
              <a:t>Key Findings</a:t>
            </a:r>
            <a:endParaRPr b="1" sz="1050"/>
          </a:p>
          <a:p>
            <a:pPr indent="-295275" lvl="0" marL="457200" rtl="0" algn="l">
              <a:spcBef>
                <a:spcPts val="1200"/>
              </a:spcBef>
              <a:spcAft>
                <a:spcPts val="0"/>
              </a:spcAft>
              <a:buSzPts val="1050"/>
              <a:buChar char="-"/>
            </a:pPr>
            <a:r>
              <a:rPr lang="en" sz="1050">
                <a:solidFill>
                  <a:srgbClr val="B6D7A8"/>
                </a:solidFill>
              </a:rPr>
              <a:t>Teaching &amp; Research = Strong positive correlation</a:t>
            </a:r>
            <a:endParaRPr sz="1050">
              <a:solidFill>
                <a:srgbClr val="B6D7A8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050"/>
              <a:buChar char="-"/>
            </a:pPr>
            <a:r>
              <a:rPr lang="en" sz="1050">
                <a:solidFill>
                  <a:srgbClr val="B6D7A8"/>
                </a:solidFill>
              </a:rPr>
              <a:t>Citations = Moderate positive correlation</a:t>
            </a:r>
            <a:endParaRPr sz="1050">
              <a:solidFill>
                <a:srgbClr val="B6D7A8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050"/>
              <a:buChar char="-"/>
            </a:pPr>
            <a:r>
              <a:rPr lang="en" sz="1050">
                <a:solidFill>
                  <a:srgbClr val="B6D7A8"/>
                </a:solidFill>
              </a:rPr>
              <a:t>Industry income, international = Mild impact</a:t>
            </a:r>
            <a:endParaRPr sz="1050">
              <a:solidFill>
                <a:srgbClr val="B6D7A8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050"/>
              <a:buChar char="-"/>
            </a:pPr>
            <a:r>
              <a:rPr lang="en" sz="1050">
                <a:solidFill>
                  <a:srgbClr val="B6D7A8"/>
                </a:solidFill>
              </a:rPr>
              <a:t>Student-staff ratio = Negative correlation</a:t>
            </a:r>
            <a:endParaRPr sz="1050">
              <a:solidFill>
                <a:srgbClr val="B6D7A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7141" y="1202437"/>
            <a:ext cx="5236933" cy="3653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87900" y="32680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/>
              <a:t>Academic Ranking of World Universities (Shanghai Ranking)</a:t>
            </a:r>
            <a:endParaRPr sz="2200"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124750" y="1356475"/>
            <a:ext cx="4120200" cy="33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Scoring System: </a:t>
            </a:r>
            <a:r>
              <a:rPr lang="en" sz="1000">
                <a:solidFill>
                  <a:srgbClr val="B6D7A8"/>
                </a:solidFill>
              </a:rPr>
              <a:t>The top university is given a score of 100. Every other university is then scored as a percentage of the top score. </a:t>
            </a:r>
            <a:endParaRPr sz="1000">
              <a:solidFill>
                <a:srgbClr val="B6D7A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/>
              <a:t>Alumni Score: </a:t>
            </a:r>
            <a:r>
              <a:rPr lang="en" sz="1000">
                <a:solidFill>
                  <a:srgbClr val="B6D7A8"/>
                </a:solidFill>
              </a:rPr>
              <a:t>Number of alumni who have won nobel prizes or fields medals</a:t>
            </a:r>
            <a:endParaRPr sz="1000">
              <a:solidFill>
                <a:srgbClr val="B6D7A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/>
              <a:t>Award</a:t>
            </a:r>
            <a:r>
              <a:rPr b="1" lang="en" sz="1000"/>
              <a:t> Score: </a:t>
            </a:r>
            <a:r>
              <a:rPr lang="en" sz="1000">
                <a:solidFill>
                  <a:srgbClr val="B6D7A8"/>
                </a:solidFill>
              </a:rPr>
              <a:t>Number of staff who have won nobel prizes or fields medals</a:t>
            </a:r>
            <a:endParaRPr sz="1000">
              <a:solidFill>
                <a:srgbClr val="B6D7A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/>
              <a:t>HiCi Score:</a:t>
            </a:r>
            <a:r>
              <a:rPr b="1" lang="en" sz="1000">
                <a:solidFill>
                  <a:srgbClr val="B6D7A8"/>
                </a:solidFill>
              </a:rPr>
              <a:t> </a:t>
            </a:r>
            <a:r>
              <a:rPr lang="en" sz="1000">
                <a:solidFill>
                  <a:srgbClr val="B6D7A8"/>
                </a:solidFill>
              </a:rPr>
              <a:t>Number of Highly Cited Researchers selected by Thomson Reuters</a:t>
            </a:r>
            <a:endParaRPr sz="1000">
              <a:solidFill>
                <a:srgbClr val="B6D7A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/>
              <a:t>N&amp;S Score:</a:t>
            </a:r>
            <a:r>
              <a:rPr b="1" lang="en" sz="1000">
                <a:solidFill>
                  <a:srgbClr val="B6D7A8"/>
                </a:solidFill>
              </a:rPr>
              <a:t> </a:t>
            </a:r>
            <a:r>
              <a:rPr lang="en" sz="1000">
                <a:solidFill>
                  <a:srgbClr val="B6D7A8"/>
                </a:solidFill>
              </a:rPr>
              <a:t>Number of papers published in Nature and Science</a:t>
            </a:r>
            <a:endParaRPr sz="1000">
              <a:solidFill>
                <a:srgbClr val="B6D7A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/>
              <a:t>PUB Score: </a:t>
            </a:r>
            <a:r>
              <a:rPr lang="en" sz="1000">
                <a:solidFill>
                  <a:srgbClr val="B6D7A8"/>
                </a:solidFill>
              </a:rPr>
              <a:t>Number of articles indexed in Science Citation Index - Expanded and Social Sciences Citation Index</a:t>
            </a:r>
            <a:endParaRPr sz="1000">
              <a:solidFill>
                <a:srgbClr val="B6D7A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/>
              <a:t>PCP Score: </a:t>
            </a:r>
            <a:r>
              <a:rPr lang="en" sz="1000">
                <a:solidFill>
                  <a:srgbClr val="B6D7A8"/>
                </a:solidFill>
              </a:rPr>
              <a:t>A university's academic performance per capita. It is calculated by dividing the weighted sum of the other indicators by the number of full-time equivalent academic staff</a:t>
            </a:r>
            <a:endParaRPr sz="1000">
              <a:solidFill>
                <a:srgbClr val="B6D7A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4775" y="1568000"/>
            <a:ext cx="4576874" cy="319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87900" y="33555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Center for World University Rankings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87900" y="1213600"/>
            <a:ext cx="2413500" cy="32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/>
              <a:t>Scoring System </a:t>
            </a:r>
            <a:endParaRPr b="1" sz="1050"/>
          </a:p>
          <a:p>
            <a:pPr indent="-295275" lvl="0" marL="457200" rtl="0" algn="l">
              <a:spcBef>
                <a:spcPts val="1200"/>
              </a:spcBef>
              <a:spcAft>
                <a:spcPts val="0"/>
              </a:spcAft>
              <a:buClr>
                <a:srgbClr val="B6D7A8"/>
              </a:buClr>
              <a:buSzPts val="1050"/>
              <a:buChar char="-"/>
            </a:pPr>
            <a:r>
              <a:rPr lang="en" sz="1050">
                <a:solidFill>
                  <a:srgbClr val="B6D7A8"/>
                </a:solidFill>
              </a:rPr>
              <a:t>Quality of Education</a:t>
            </a:r>
            <a:endParaRPr sz="1050">
              <a:solidFill>
                <a:srgbClr val="B6D7A8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050"/>
              <a:buChar char="-"/>
            </a:pPr>
            <a:r>
              <a:rPr lang="en" sz="1050">
                <a:solidFill>
                  <a:srgbClr val="B6D7A8"/>
                </a:solidFill>
              </a:rPr>
              <a:t>Alumni Employment</a:t>
            </a:r>
            <a:endParaRPr sz="1050">
              <a:solidFill>
                <a:srgbClr val="B6D7A8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050"/>
              <a:buChar char="-"/>
            </a:pPr>
            <a:r>
              <a:rPr lang="en" sz="1050">
                <a:solidFill>
                  <a:srgbClr val="B6D7A8"/>
                </a:solidFill>
              </a:rPr>
              <a:t>Quality of Faculty</a:t>
            </a:r>
            <a:endParaRPr sz="1050">
              <a:solidFill>
                <a:srgbClr val="B6D7A8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050"/>
              <a:buChar char="-"/>
            </a:pPr>
            <a:r>
              <a:rPr lang="en" sz="1050">
                <a:solidFill>
                  <a:srgbClr val="B6D7A8"/>
                </a:solidFill>
              </a:rPr>
              <a:t>Publications</a:t>
            </a:r>
            <a:endParaRPr sz="1050">
              <a:solidFill>
                <a:srgbClr val="B6D7A8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050"/>
              <a:buChar char="-"/>
            </a:pPr>
            <a:r>
              <a:rPr lang="en" sz="1050">
                <a:solidFill>
                  <a:srgbClr val="B6D7A8"/>
                </a:solidFill>
              </a:rPr>
              <a:t>Influence</a:t>
            </a:r>
            <a:endParaRPr sz="1050">
              <a:solidFill>
                <a:srgbClr val="B6D7A8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050"/>
              <a:buChar char="-"/>
            </a:pPr>
            <a:r>
              <a:rPr lang="en" sz="1050">
                <a:solidFill>
                  <a:srgbClr val="B6D7A8"/>
                </a:solidFill>
              </a:rPr>
              <a:t>Citations</a:t>
            </a:r>
            <a:endParaRPr sz="1050">
              <a:solidFill>
                <a:srgbClr val="B6D7A8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050"/>
              <a:buChar char="-"/>
            </a:pPr>
            <a:r>
              <a:rPr lang="en" sz="1050">
                <a:solidFill>
                  <a:srgbClr val="B6D7A8"/>
                </a:solidFill>
              </a:rPr>
              <a:t>Broad Impact</a:t>
            </a:r>
            <a:endParaRPr sz="1050">
              <a:solidFill>
                <a:srgbClr val="B6D7A8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050"/>
              <a:buChar char="-"/>
            </a:pPr>
            <a:r>
              <a:rPr lang="en" sz="1050">
                <a:solidFill>
                  <a:srgbClr val="B6D7A8"/>
                </a:solidFill>
              </a:rPr>
              <a:t>Patents</a:t>
            </a:r>
            <a:endParaRPr sz="1050">
              <a:solidFill>
                <a:srgbClr val="B6D7A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50"/>
              <a:t>Key Findings</a:t>
            </a:r>
            <a:endParaRPr b="1" sz="1050"/>
          </a:p>
          <a:p>
            <a:pPr indent="-295275" lvl="0" marL="457200" rtl="0" algn="l">
              <a:spcBef>
                <a:spcPts val="1200"/>
              </a:spcBef>
              <a:spcAft>
                <a:spcPts val="0"/>
              </a:spcAft>
              <a:buClr>
                <a:srgbClr val="B6D7A8"/>
              </a:buClr>
              <a:buSzPts val="1050"/>
              <a:buChar char="-"/>
            </a:pPr>
            <a:r>
              <a:rPr lang="en" sz="1050">
                <a:solidFill>
                  <a:srgbClr val="B6D7A8"/>
                </a:solidFill>
              </a:rPr>
              <a:t>Publications = Strongest positive correlation</a:t>
            </a:r>
            <a:endParaRPr sz="1050">
              <a:solidFill>
                <a:srgbClr val="B6D7A8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050"/>
              <a:buChar char="-"/>
            </a:pPr>
            <a:r>
              <a:rPr lang="en" sz="1050">
                <a:solidFill>
                  <a:srgbClr val="B6D7A8"/>
                </a:solidFill>
              </a:rPr>
              <a:t>Influence / citations / broad impact = High correlations</a:t>
            </a:r>
            <a:endParaRPr sz="1050">
              <a:solidFill>
                <a:srgbClr val="B6D7A8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050"/>
              <a:buChar char="-"/>
            </a:pPr>
            <a:r>
              <a:rPr lang="en" sz="1050">
                <a:solidFill>
                  <a:srgbClr val="B6D7A8"/>
                </a:solidFill>
              </a:rPr>
              <a:t>Education &amp; Employment = Moderate Impact</a:t>
            </a:r>
            <a:endParaRPr sz="1050">
              <a:solidFill>
                <a:srgbClr val="B6D7A8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050"/>
              <a:buChar char="-"/>
            </a:pPr>
            <a:r>
              <a:rPr lang="en" sz="1050">
                <a:solidFill>
                  <a:srgbClr val="B6D7A8"/>
                </a:solidFill>
              </a:rPr>
              <a:t>Patents = Lowest but still positive impact</a:t>
            </a:r>
            <a:endParaRPr sz="1050">
              <a:solidFill>
                <a:srgbClr val="B6D7A8"/>
              </a:solidFill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1402" y="1277100"/>
            <a:ext cx="6028476" cy="350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87900" y="1442199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6D7A8"/>
                </a:solidFill>
              </a:rPr>
              <a:t>All of these ranking systems use an objective scoring system, but the weight/correlation to the overall ranking of universities is very subjective.</a:t>
            </a:r>
            <a:endParaRPr>
              <a:solidFill>
                <a:srgbClr val="B6D7A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Times Ranking System places the most emphasis on teaching quality, research performance, and citation impact, making faculty resources and academic output the strongest drivers of a higher overall ranking.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6D7A8"/>
                </a:solidFill>
              </a:rPr>
              <a:t>The Shanghai Ranking System puts a lot of weight on total number of awards and published papers.</a:t>
            </a:r>
            <a:endParaRPr>
              <a:solidFill>
                <a:srgbClr val="B6D7A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50"/>
              <a:t>The Center Ranking System focuses heavily on research productivity, citation influence, and overall academic output, with publications showing the strongest correlation to higher rankings.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B6D7A8"/>
                </a:solidFill>
              </a:rPr>
              <a:t>Universities need to decide which ranking system is the most important to them as being the best under them all is not very feasible, and yet somehow Harvard does it.</a:t>
            </a:r>
            <a:endParaRPr>
              <a:solidFill>
                <a:srgbClr val="B6D7A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